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772400" cy="10058400"/>
  <p:notesSz cx="10058400" cy="7772400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erif 4 Medium"/>
      <p:regular r:id="rId201317"/>
    </p:embeddedFont>
    <p:embeddedFont>
      <p:font typeface="Source Serif 4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3486478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3" name="Text 1"/>
          <p:cNvSpPr/>
          <p:nvPr/>
        </p:nvSpPr>
        <p:spPr>
          <a:xfrm>
            <a:off x="482549" y="535434"/>
            <a:ext cx="7195858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SYSTEM ARCHITECTURE · TECHNICAL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2549" y="1070016"/>
            <a:ext cx="6807238" cy="642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600" spc="-83" kern="100" dirty="0">
                <a:solidFill>
                  <a:srgbClr val="FFFFFF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Career Companion Agent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82549" y="1839782"/>
            <a:ext cx="6807238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2549" y="2263551"/>
            <a:ext cx="2246267" cy="28207"/>
          </a:xfrm>
          <a:prstGeom prst="roundRect">
            <a:avLst>
              <a:gd name="adj" fmla="val 50006"/>
            </a:avLst>
          </a:prstGeom>
          <a:solidFill>
            <a:srgbClr val="D69B2D"/>
          </a:solidFill>
          <a:ln/>
        </p:spPr>
      </p:sp>
      <p:sp>
        <p:nvSpPr>
          <p:cNvPr id="7" name="Text 5"/>
          <p:cNvSpPr/>
          <p:nvPr/>
        </p:nvSpPr>
        <p:spPr>
          <a:xfrm>
            <a:off x="482549" y="2503090"/>
            <a:ext cx="6807238" cy="552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platform architecture for profile-aware career guidance, grounded recommendations, and managed internship applications.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2549" y="3971126"/>
            <a:ext cx="7195858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DOCUMENT 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2549" y="4232009"/>
            <a:ext cx="6807238" cy="368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candidate profile. Every career action.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82549" y="4769455"/>
            <a:ext cx="6807238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connects candidate data, job evidence, specialist agents, retrieval, and application workflows into one traceable product foundation.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2549" y="5417078"/>
            <a:ext cx="2269037" cy="1246548"/>
          </a:xfrm>
          <a:custGeom>
            <a:avLst/>
            <a:gdLst/>
            <a:ahLst/>
            <a:cxnLst/>
            <a:rect l="l" t="t" r="r" b="b"/>
            <a:pathLst>
              <a:path w="2269037" h="1246548">
                <a:moveTo>
                  <a:pt x="9525" y="0"/>
                </a:moveTo>
                <a:lnTo>
                  <a:pt x="2269037" y="0"/>
                </a:lnTo>
                <a:lnTo>
                  <a:pt x="2269037" y="1246548"/>
                </a:lnTo>
                <a:lnTo>
                  <a:pt x="9525" y="1246548"/>
                </a:lnTo>
                <a:arcTo hR="9524" wR="9525" stAng="5400000" swAng="5400000"/>
                <a:lnTo>
                  <a:pt x="0" y="9524"/>
                </a:lnTo>
                <a:arcTo hR="9524" wR="9525" stAng="10800000" swAng="5400000"/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714" y="5674215"/>
            <a:ext cx="1862707" cy="41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54" kern="100" dirty="0">
                <a:solidFill>
                  <a:srgbClr val="1E302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714" y="6255131"/>
            <a:ext cx="2065872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candidate contract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51586" y="5417078"/>
            <a:ext cx="2269101" cy="1246548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2954752" y="5674215"/>
            <a:ext cx="1862770" cy="41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54" kern="100" dirty="0">
                <a:solidFill>
                  <a:srgbClr val="1E302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06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954752" y="6255131"/>
            <a:ext cx="2065935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Focused career agents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0687" y="5417078"/>
            <a:ext cx="2269101" cy="1246548"/>
          </a:xfrm>
          <a:custGeom>
            <a:avLst/>
            <a:gdLst/>
            <a:ahLst/>
            <a:cxnLst/>
            <a:rect l="l" t="t" r="r" b="b"/>
            <a:pathLst>
              <a:path w="2269101" h="1246548">
                <a:moveTo>
                  <a:pt x="0" y="0"/>
                </a:moveTo>
                <a:lnTo>
                  <a:pt x="2259576" y="0"/>
                </a:lnTo>
                <a:arcTo hR="9524" wR="9525" stAng="16200000" swAng="5400000"/>
                <a:lnTo>
                  <a:pt x="2269101" y="1237025"/>
                </a:lnTo>
                <a:arcTo hR="9524" wR="9525" stAng="0" swAng="5400000"/>
                <a:lnTo>
                  <a:pt x="0" y="1246548"/>
                </a:lnTo>
                <a:lnTo>
                  <a:pt x="0" y="0"/>
                </a:lnTo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5223852" y="5674215"/>
            <a:ext cx="1862770" cy="41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54" kern="100" dirty="0">
                <a:solidFill>
                  <a:srgbClr val="1E302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23852" y="6255131"/>
            <a:ext cx="2065935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+ FAISS data paths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549" y="9395345"/>
            <a:ext cx="7195858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Architecture brief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Product foundation, AI responsibilities, candidate data model, and internship application workflow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9562" y="5417078"/>
            <a:ext cx="4048" cy="12465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2" name="Shape 20"/>
          <p:cNvSpPr/>
          <p:nvPr/>
        </p:nvSpPr>
        <p:spPr>
          <a:xfrm>
            <a:off x="5018663" y="5417078"/>
            <a:ext cx="4048" cy="1246548"/>
          </a:xfrm>
          <a:prstGeom prst="rect">
            <a:avLst/>
          </a:prstGeom>
          <a:solidFill>
            <a:srgbClr val="A9BBB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 · PLATFORM OVERVIEW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platform connects one candidate profile to every career action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Requests begin in the web application, move through FastAPI services and agent orchestration, and return with evidence-backed guidance. Structured records remain authoritative while semantic search supplies context.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59" y="3190873"/>
            <a:ext cx="6553219" cy="1142005"/>
          </a:xfrm>
          <a:custGeom>
            <a:avLst/>
            <a:gdLst/>
            <a:ahLst/>
            <a:cxnLst/>
            <a:rect l="l" t="t" r="r" b="b"/>
            <a:pathLst>
              <a:path w="6553219" h="1142005">
                <a:moveTo>
                  <a:pt x="9525" y="0"/>
                </a:moveTo>
                <a:lnTo>
                  <a:pt x="6543694" y="0"/>
                </a:lnTo>
                <a:arcTo hR="9524" wR="9525" stAng="16200000" swAng="5400000"/>
                <a:lnTo>
                  <a:pt x="6553219" y="1142005"/>
                </a:lnTo>
                <a:lnTo>
                  <a:pt x="0" y="1142005"/>
                </a:lnTo>
                <a:lnTo>
                  <a:pt x="0" y="9524"/>
                </a:lnTo>
                <a:arcTo hR="9524" wR="9525" stAng="10800000" swAng="5400000"/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7" name="Text 5"/>
          <p:cNvSpPr/>
          <p:nvPr/>
        </p:nvSpPr>
        <p:spPr>
          <a:xfrm>
            <a:off x="787297" y="3319392"/>
            <a:ext cx="6375481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7297" y="3559019"/>
            <a:ext cx="619774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Frontend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7297" y="3967831"/>
            <a:ext cx="6375481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Dashboard, profile, resume upload, job discovery, interview workspace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559" y="4332878"/>
            <a:ext cx="6553219" cy="1142005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11" name="Text 9"/>
          <p:cNvSpPr/>
          <p:nvPr/>
        </p:nvSpPr>
        <p:spPr>
          <a:xfrm>
            <a:off x="787297" y="4461397"/>
            <a:ext cx="6375481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7297" y="4701024"/>
            <a:ext cx="619774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Backend · FastAPI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87297" y="5109837"/>
            <a:ext cx="6375481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APIs, validation, business logic, orchestration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559" y="5474884"/>
            <a:ext cx="6553219" cy="1142005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787297" y="5603403"/>
            <a:ext cx="6375481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DECISION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7297" y="5843030"/>
            <a:ext cx="619774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AI agents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87297" y="6251842"/>
            <a:ext cx="6375481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Matching, skills, resume, cover letter, interview, conversation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559" y="6616889"/>
            <a:ext cx="6553219" cy="1142005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19" name="Text 17"/>
          <p:cNvSpPr/>
          <p:nvPr/>
        </p:nvSpPr>
        <p:spPr>
          <a:xfrm>
            <a:off x="787297" y="6745408"/>
            <a:ext cx="6375481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EVIDENCE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7297" y="6985035"/>
            <a:ext cx="619774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RAG &amp; search → LLM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7297" y="7393847"/>
            <a:ext cx="6375481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Embeddings and FAISS retrieval ground responses for Ollama models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9559" y="7758894"/>
            <a:ext cx="6553219" cy="1142005"/>
          </a:xfrm>
          <a:custGeom>
            <a:avLst/>
            <a:gdLst/>
            <a:ahLst/>
            <a:cxnLst/>
            <a:rect l="l" t="t" r="r" b="b"/>
            <a:pathLst>
              <a:path w="6553219" h="1142005">
                <a:moveTo>
                  <a:pt x="0" y="0"/>
                </a:moveTo>
                <a:lnTo>
                  <a:pt x="6553219" y="0"/>
                </a:lnTo>
                <a:lnTo>
                  <a:pt x="6553219" y="1132481"/>
                </a:lnTo>
                <a:arcTo hR="9524" wR="9525" stAng="0" swAng="5400000"/>
                <a:lnTo>
                  <a:pt x="9525" y="1142005"/>
                </a:lnTo>
                <a:arcTo hR="9524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173F33"/>
          </a:solidFill>
          <a:ln/>
        </p:spPr>
      </p:sp>
      <p:sp>
        <p:nvSpPr>
          <p:cNvPr id="23" name="Text 21"/>
          <p:cNvSpPr/>
          <p:nvPr/>
        </p:nvSpPr>
        <p:spPr>
          <a:xfrm>
            <a:off x="787297" y="7887413"/>
            <a:ext cx="6375481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SYSTEMS OF RECORD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297" y="8127040"/>
            <a:ext cx="619774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MySQL + external sources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87297" y="8535853"/>
            <a:ext cx="6375481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 entities, metadata, jobs, applications, and source URLs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9559" y="9072292"/>
            <a:ext cx="6553219" cy="35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Figure 1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Primary request path: interface → services → agents → retrieval and model → persistent records and external job/application sources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9559" y="4330855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59" y="5472860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59" y="6614865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59" y="7756871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1" name="Text 29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 · PRODUCT FOUNDATION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 and backend provide the product foundation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product separates user-facing career work from the services that validate, persist, and coordinate it. The boundary keeps interface changes independent from orchestration and data rules.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59" y="3190873"/>
            <a:ext cx="3276578" cy="3446760"/>
          </a:xfrm>
          <a:custGeom>
            <a:avLst/>
            <a:gdLst/>
            <a:ahLst/>
            <a:cxnLst/>
            <a:rect l="l" t="t" r="r" b="b"/>
            <a:pathLst>
              <a:path w="3276578" h="3446760">
                <a:moveTo>
                  <a:pt x="9525" y="0"/>
                </a:moveTo>
                <a:lnTo>
                  <a:pt x="3276578" y="0"/>
                </a:lnTo>
                <a:lnTo>
                  <a:pt x="3276578" y="3446760"/>
                </a:lnTo>
                <a:lnTo>
                  <a:pt x="9525" y="3446760"/>
                </a:lnTo>
                <a:arcTo hR="9524" wR="9525" stAng="5400000" swAng="5400000"/>
                <a:lnTo>
                  <a:pt x="0" y="9524"/>
                </a:lnTo>
                <a:arcTo hR="9524" wR="9525" stAng="10800000" swAng="5400000"/>
                <a:close/>
              </a:path>
            </a:pathLst>
          </a:custGeom>
          <a:solidFill>
            <a:srgbClr val="173F33"/>
          </a:solidFill>
          <a:ln/>
        </p:spPr>
      </p:sp>
      <p:sp>
        <p:nvSpPr>
          <p:cNvPr id="7" name="Text 5"/>
          <p:cNvSpPr/>
          <p:nvPr/>
        </p:nvSpPr>
        <p:spPr>
          <a:xfrm>
            <a:off x="888943" y="3497172"/>
            <a:ext cx="2997194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43" y="3753625"/>
            <a:ext cx="2717810" cy="29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spc="-24" kern="1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8943" y="4221821"/>
            <a:ext cx="2997194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 · HTML · CSS · JavaScript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8943" y="4570994"/>
            <a:ext cx="2717810" cy="152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with recommendations, skill gaps, saved jobs, and application status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 profile and resume upload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Job discovery, job details, saved jobs, and interview workspace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86137" y="3190873"/>
            <a:ext cx="3276641" cy="3446760"/>
          </a:xfrm>
          <a:custGeom>
            <a:avLst/>
            <a:gdLst/>
            <a:ahLst/>
            <a:cxnLst/>
            <a:rect l="l" t="t" r="r" b="b"/>
            <a:pathLst>
              <a:path w="3276641" h="3446760">
                <a:moveTo>
                  <a:pt x="0" y="0"/>
                </a:moveTo>
                <a:lnTo>
                  <a:pt x="3267116" y="0"/>
                </a:lnTo>
                <a:arcTo hR="9524" wR="9525" stAng="16200000" swAng="5400000"/>
                <a:lnTo>
                  <a:pt x="3276641" y="3437236"/>
                </a:lnTo>
                <a:arcTo hR="9524" wR="9525" stAng="0" swAng="5400000"/>
                <a:lnTo>
                  <a:pt x="0" y="3446760"/>
                </a:lnTo>
                <a:lnTo>
                  <a:pt x="0" y="0"/>
                </a:lnTo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12" name="Text 10"/>
          <p:cNvSpPr/>
          <p:nvPr/>
        </p:nvSpPr>
        <p:spPr>
          <a:xfrm>
            <a:off x="4165521" y="3497172"/>
            <a:ext cx="2997257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SERVICE FOUNDATION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5521" y="3753625"/>
            <a:ext cx="2717873" cy="29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spc="-24" kern="100" dirty="0">
                <a:solidFill>
                  <a:srgbClr val="1E302A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65521" y="4221821"/>
            <a:ext cx="2997257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5521" y="4570994"/>
            <a:ext cx="2717873" cy="176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APIs, authentication, authorization, validation, and business logic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Profile management and resume processing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Job management, AI orchestration, and application tracking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559" y="6809026"/>
            <a:ext cx="6553219" cy="872900"/>
          </a:xfrm>
          <a:prstGeom prst="roundRect">
            <a:avLst>
              <a:gd name="adj" fmla="val 1309"/>
            </a:avLst>
          </a:prstGeom>
          <a:solidFill>
            <a:srgbClr val="F7EBD4"/>
          </a:solidFill>
          <a:ln/>
        </p:spPr>
      </p:sp>
      <p:sp>
        <p:nvSpPr>
          <p:cNvPr id="17" name="Text 15"/>
          <p:cNvSpPr/>
          <p:nvPr/>
        </p:nvSpPr>
        <p:spPr>
          <a:xfrm>
            <a:off x="768258" y="7007360"/>
            <a:ext cx="6235820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is the coordination boundary: it protects the profile contract while routing work to storage, retrieval, and specialist agents.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4113" y="3190873"/>
            <a:ext cx="4048" cy="3446760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19" name="Text 17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 · AGENT RESPONSIBILITIES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368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Each agent owns a focused career decision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1936862"/>
            <a:ext cx="65532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Specialist agents keep decisions narrow enough to evaluate, explain, and improve. The conversational assistant coordinates them without replacing their domain responsibilities.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59" y="2584485"/>
            <a:ext cx="3124204" cy="1799179"/>
          </a:xfrm>
          <a:prstGeom prst="rect">
            <a:avLst/>
          </a:prstGeom>
          <a:solidFill>
            <a:srgbClr val="E8F0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52" y="2787626"/>
            <a:ext cx="396843" cy="396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52" y="3295479"/>
            <a:ext cx="2667019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Job–Resume Matching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8152" y="3704292"/>
            <a:ext cx="26670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Ranks opportunities against requirements and explains the match.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38511" y="2584485"/>
            <a:ext cx="3124267" cy="1799179"/>
          </a:xfrm>
          <a:prstGeom prst="rect">
            <a:avLst/>
          </a:prstGeom>
          <a:solidFill>
            <a:srgbClr val="E8F0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03" y="2787626"/>
            <a:ext cx="396843" cy="3967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67103" y="3295479"/>
            <a:ext cx="2667082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Skill Gap Analysis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267103" y="3704292"/>
            <a:ext cx="2667082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Finds weak or missing skills and recommends role-linked learning.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559" y="4688376"/>
            <a:ext cx="3124204" cy="1799179"/>
          </a:xfrm>
          <a:prstGeom prst="rect">
            <a:avLst/>
          </a:prstGeom>
          <a:solidFill>
            <a:srgbClr val="E8F0E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2" y="4891517"/>
            <a:ext cx="396843" cy="3967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152" y="5399370"/>
            <a:ext cx="2667019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Resume Agent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38152" y="5808182"/>
            <a:ext cx="26670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structure and bullets while preserving candidate facts.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038511" y="4688376"/>
            <a:ext cx="3124267" cy="1799179"/>
          </a:xfrm>
          <a:prstGeom prst="rect">
            <a:avLst/>
          </a:prstGeom>
          <a:solidFill>
            <a:srgbClr val="E8F0E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03" y="4891517"/>
            <a:ext cx="396843" cy="3967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67103" y="5399370"/>
            <a:ext cx="2667082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Cover Letter Agent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4267103" y="5808182"/>
            <a:ext cx="2667082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Drafts role-specific letters from profile and job evidence.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09559" y="6792266"/>
            <a:ext cx="3124204" cy="1799179"/>
          </a:xfrm>
          <a:prstGeom prst="rect">
            <a:avLst/>
          </a:prstGeom>
          <a:solidFill>
            <a:srgbClr val="E8F0E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52" y="6995407"/>
            <a:ext cx="396843" cy="3967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8152" y="7503260"/>
            <a:ext cx="2667019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Interview Preparation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838152" y="7912073"/>
            <a:ext cx="26670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questions, evaluates answers, and gives targeted feedback.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038511" y="6792266"/>
            <a:ext cx="3124267" cy="1799179"/>
          </a:xfrm>
          <a:prstGeom prst="rect">
            <a:avLst/>
          </a:prstGeom>
          <a:solidFill>
            <a:srgbClr val="173F3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103" y="6995407"/>
            <a:ext cx="396843" cy="3967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267103" y="7503260"/>
            <a:ext cx="2667082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Conversational Assistant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4267103" y="7912073"/>
            <a:ext cx="2667082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Answers profile-aware questions and routes multi-step requests.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 · GROUNDED GENERATION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Retrieval grounds every recommendation in candidate and job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 separates semantic recall from authoritative storage. Resume, job, skill, and interview content is normalized, embedded, indexed, retrieved, and passed as context to a replaceable local model deployment.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76" y="3190873"/>
            <a:ext cx="5595584" cy="2412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316" y="3486612"/>
            <a:ext cx="3077092" cy="135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-1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Normalize Text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466316" y="4046102"/>
            <a:ext cx="3077092" cy="13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-1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Create Embeddings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466316" y="4599981"/>
            <a:ext cx="3077092" cy="13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-1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Retrieve Context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466316" y="5153860"/>
            <a:ext cx="3077092" cy="13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-10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Generate Grounded Outputs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2724" y="5952632"/>
            <a:ext cx="177807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Embeddings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12724" y="6361445"/>
            <a:ext cx="1778076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representations for resumes, skills, jobs, and interview content.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97131" y="5952632"/>
            <a:ext cx="177807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FAISS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997131" y="6361445"/>
            <a:ext cx="1778076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Retrieves similar jobs, skill evidence, and preparation material.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181537" y="5952632"/>
            <a:ext cx="177807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LLM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181537" y="6361445"/>
            <a:ext cx="1778076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responses from retrieved context, not unsupported memory.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9559" y="7424900"/>
            <a:ext cx="6553219" cy="35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Figure 2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MySQL stores structured truth; FAISS supports semantic retrieval; Ollama hosts replaceable model options.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91941" y="5774916"/>
            <a:ext cx="4048" cy="1478592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19" name="Shape 16"/>
          <p:cNvSpPr/>
          <p:nvPr/>
        </p:nvSpPr>
        <p:spPr>
          <a:xfrm>
            <a:off x="4976347" y="5774916"/>
            <a:ext cx="4048" cy="1478592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0" name="Text 17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 · SHARED DATA CONTRACT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candidate profile is the shared contract across agents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normalized profile separates identity, education, experience, skills, preferences, resume versions, and evidence links. Every agent reads the same contract, while each produces a focused decision or artifact.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59" y="3190873"/>
          <a:ext cx="6553219" cy="914400"/>
        </p:xfrm>
        <a:graphic>
          <a:graphicData uri="http://schemas.openxmlformats.org/drawingml/2006/table">
            <a:tbl>
              <a:tblPr/>
              <a:tblGrid>
                <a:gridCol w="1310644"/>
                <a:gridCol w="2817875"/>
                <a:gridCol w="2424700"/>
              </a:tblGrid>
              <a:tr h="372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spc="60" kern="1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ENTITY</a:t>
                      </a:r>
                      <a:endParaRPr lang="en-US" sz="10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5250" marR="95250" marT="88900" marB="88900" anchor="ctr">
                    <a:lnL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spc="60" kern="1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KEY FIELDS</a:t>
                      </a:r>
                      <a:endParaRPr lang="en-US" sz="10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5250" marR="95250" marT="88900" marB="88900" anchor="ctr">
                    <a:lnL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spc="60" kern="1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PURPOSE</a:t>
                      </a:r>
                      <a:endParaRPr lang="en-US" sz="10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5250" marR="95250" marT="88900" marB="88900" anchor="ctr">
                    <a:lnL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3"/>
                    </a:solidFill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Candidate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candidate_id, name, email, location, graduation_date, target_roles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Identity and career goals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Education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institution, degree, field, start_date, end_date, GPA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Academic background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Experience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company, title, start_date, end_date, responsibilities, achievements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Evidence of applied skills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Skill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name, category, proficiency, years, evidence_refs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Matching and gap analysis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Project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name, description, technologies, outcomes, links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Portfolio evidence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Preference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locations, work_mode, industries, salary_range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Opportunity filtering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Resume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resume_id, file_uri, version, parsed_text, created_at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Source document and versions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0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Application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application_id, job_id, status, applied_at, next_action, notes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302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Application tracking</a:t>
                      </a:r>
                      <a:endParaRPr lang="en-US" sz="11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537" marR="109537" marT="88900" marB="88900" anchor="ctr">
                    <a:lnL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B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59" y="8733365"/>
            <a:ext cx="6941839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Table 1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Candidate profile schema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06 · PROFILE INGESTION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Resume upload becomes a trusted structured profile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01" y="2286098"/>
            <a:ext cx="6037336" cy="26031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255" y="2605187"/>
            <a:ext cx="3320046" cy="14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Upload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75255" y="3208852"/>
            <a:ext cx="3320046" cy="14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Validate &amp; Store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75255" y="3806463"/>
            <a:ext cx="3320046" cy="14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Extract Text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75255" y="4404074"/>
            <a:ext cx="3320046" cy="14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1" kern="1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Parse Sections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9559" y="5060633"/>
            <a:ext cx="6553219" cy="223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the resume through the authenticated React interface.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validates file type, size, ownership, and malware-safe storage handling.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Resume processing extracts text and layout-aware sections.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Parsing identifies education, experience, skills, projects, links, and dates.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Normalization maps variants to a canonical skill taxonomy and validates dates and entities.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stores the original file, parsed text, metadata, and confidence scores.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candidate reviews and corrects the proposed profile before it becomes active.</a:t>
            </a:r>
            <a:endParaRPr lang="en-US" sz="1250" dirty="0"/>
          </a:p>
          <a:p>
            <a:pPr algn="l" marL="254000" indent="-254000">
              <a:lnSpc>
                <a:spcPct val="125000"/>
              </a:lnSpc>
              <a:buSzPct val="100000"/>
              <a:buFont typeface="+mj-lt"/>
              <a:buAutoNum type="arabicPeriod" startAt="8"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Approved profile data is embedded and indexed for matching and assistant retrieval.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9559" y="7469867"/>
            <a:ext cx="6941839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Figure 3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Approved profile data is embedded and indexed only after candidate review.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07 · APPLICATION WORKFLOW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Application Tracking &amp; Management closes the loop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internship search becomes a managed workflow rather than a one-time recommendation. Documents, reminders, notes, outcomes, and next actions stay attached to the application record.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59" y="2952758"/>
            <a:ext cx="6553219" cy="2948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4633" y="3011804"/>
            <a:ext cx="1149117" cy="158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12" kern="100" dirty="0">
                <a:solidFill>
                  <a:srgbClr val="1E302A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Discovered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94633" y="3238850"/>
            <a:ext cx="1149117" cy="340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Job found; initial reminder set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89" y="3876607"/>
            <a:ext cx="255533" cy="2555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28345" y="5226526"/>
            <a:ext cx="1155644" cy="158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12" kern="100" dirty="0">
                <a:solidFill>
                  <a:srgbClr val="1E302A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Preparing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728345" y="5453572"/>
            <a:ext cx="1155644" cy="340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Documents attached; finalize materials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400" y="4807070"/>
            <a:ext cx="255533" cy="2555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5485" y="2988916"/>
            <a:ext cx="1149117" cy="158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12" kern="100" dirty="0">
                <a:solidFill>
                  <a:srgbClr val="1E302A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Applied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855485" y="3215962"/>
            <a:ext cx="1149117" cy="340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submitted; follow-up reminders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639" y="3850412"/>
            <a:ext cx="255533" cy="2555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89196" y="5226526"/>
            <a:ext cx="1149117" cy="158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spc="-12" kern="100" dirty="0">
                <a:solidFill>
                  <a:srgbClr val="1E302A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Screening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989196" y="5453572"/>
            <a:ext cx="1149117" cy="340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Resume review; schedule interviews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252" y="4807070"/>
            <a:ext cx="255533" cy="2555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9559" y="6072734"/>
            <a:ext cx="65532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302A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Lifecycle: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Job discovered → Saved → Preparing → Applied → Screening → Interview → Offer / Rejected / Withdrawn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09559" y="6720357"/>
            <a:ext cx="3276578" cy="2005672"/>
          </a:xfrm>
          <a:custGeom>
            <a:avLst/>
            <a:gdLst/>
            <a:ahLst/>
            <a:cxnLst/>
            <a:rect l="l" t="t" r="r" b="b"/>
            <a:pathLst>
              <a:path w="3276578" h="2005672">
                <a:moveTo>
                  <a:pt x="9525" y="0"/>
                </a:moveTo>
                <a:lnTo>
                  <a:pt x="3276578" y="0"/>
                </a:lnTo>
                <a:lnTo>
                  <a:pt x="3276578" y="2005672"/>
                </a:lnTo>
                <a:lnTo>
                  <a:pt x="9525" y="2005672"/>
                </a:lnTo>
                <a:arcTo hR="9524" wR="9525" stAng="5400000" swAng="5400000"/>
                <a:lnTo>
                  <a:pt x="0" y="9524"/>
                </a:lnTo>
                <a:arcTo hR="9524" wR="9525" stAng="10800000" swAng="5400000"/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21" name="Text 14"/>
          <p:cNvSpPr/>
          <p:nvPr/>
        </p:nvSpPr>
        <p:spPr>
          <a:xfrm>
            <a:off x="838152" y="6923498"/>
            <a:ext cx="281939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Before applying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838152" y="7332311"/>
            <a:ext cx="2819393" cy="1190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 or manually add jobs, preserving source URL, company, role, requirements, and deadline. Match against the approved profile and explain fit, gaps, and confidence.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3886137" y="6720357"/>
            <a:ext cx="3276641" cy="2005672"/>
          </a:xfrm>
          <a:custGeom>
            <a:avLst/>
            <a:gdLst/>
            <a:ahLst/>
            <a:cxnLst/>
            <a:rect l="l" t="t" r="r" b="b"/>
            <a:pathLst>
              <a:path w="3276641" h="2005672">
                <a:moveTo>
                  <a:pt x="0" y="0"/>
                </a:moveTo>
                <a:lnTo>
                  <a:pt x="3267116" y="0"/>
                </a:lnTo>
                <a:arcTo hR="9524" wR="9525" stAng="16200000" swAng="5400000"/>
                <a:lnTo>
                  <a:pt x="3276641" y="1996148"/>
                </a:lnTo>
                <a:arcTo hR="9524" wR="9525" stAng="0" swAng="5400000"/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solidFill>
            <a:srgbClr val="173F33"/>
          </a:solidFill>
          <a:ln/>
        </p:spPr>
      </p:sp>
      <p:sp>
        <p:nvSpPr>
          <p:cNvPr id="24" name="Text 17"/>
          <p:cNvSpPr/>
          <p:nvPr/>
        </p:nvSpPr>
        <p:spPr>
          <a:xfrm>
            <a:off x="4114729" y="6923498"/>
            <a:ext cx="281945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After applying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4114729" y="7332311"/>
            <a:ext cx="2819456" cy="1190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Attach tailored resumes, cover letters, interview notes, tasks, reminders, and next actions. Feed outcomes into recommendations to prioritize active opportunities.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09559" y="8897421"/>
            <a:ext cx="6941839" cy="17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spc="5" kern="100" dirty="0">
                <a:solidFill>
                  <a:srgbClr val="173F33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Figure 4</a:t>
            </a:r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5667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The application record is the feedback surface between recommendations and real outcomes.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884113" y="6720357"/>
            <a:ext cx="4048" cy="2005672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8" name="Text 21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08 · TRUST, CONTROL, AND OPERATIONS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Security and observability protect sensitive career data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2305134"/>
            <a:ext cx="6553219" cy="71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 handles resumes, identity data, application history, and model-generated artifacts. Protection therefore spans access control, storage, traceability, human approval, and lifecycle management.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59" y="3190873"/>
            <a:ext cx="48577" cy="1564352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7" name="Text 5"/>
          <p:cNvSpPr/>
          <p:nvPr/>
        </p:nvSpPr>
        <p:spPr>
          <a:xfrm>
            <a:off x="912093" y="3530496"/>
            <a:ext cx="5996728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Control access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2093" y="3939308"/>
            <a:ext cx="5996728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authenticated access and candidate-level authorization. Encrypt file storage and keep secrets outside source code.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59" y="4755225"/>
            <a:ext cx="48577" cy="1564352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10" name="Text 8"/>
          <p:cNvSpPr/>
          <p:nvPr/>
        </p:nvSpPr>
        <p:spPr>
          <a:xfrm>
            <a:off x="912093" y="5094848"/>
            <a:ext cx="5996728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Make decisions traceable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2093" y="5503660"/>
            <a:ext cx="5996728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 agent requests, retrieval sources, model responses, parsing confidence, and user corrections.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559" y="6319577"/>
            <a:ext cx="48577" cy="1564352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13" name="Text 11"/>
          <p:cNvSpPr/>
          <p:nvPr/>
        </p:nvSpPr>
        <p:spPr>
          <a:xfrm>
            <a:off x="912093" y="6659200"/>
            <a:ext cx="5996728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Keep people in the loop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2093" y="7068012"/>
            <a:ext cx="5996728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 human approval before activating parsed profile data or submitting an application.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559" y="7883929"/>
            <a:ext cx="48577" cy="1564352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16" name="Text 14"/>
          <p:cNvSpPr/>
          <p:nvPr/>
        </p:nvSpPr>
        <p:spPr>
          <a:xfrm>
            <a:off x="912093" y="8223552"/>
            <a:ext cx="5996728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73F33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Manage the data lifecycle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2093" y="8632364"/>
            <a:ext cx="5996728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Separate personally identifiable information from analytics where practical, with explicit retention and deletion controls.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559" y="4753201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59" y="6317553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59" y="7881905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07559" y="9669700"/>
            <a:ext cx="443839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59" y="611644"/>
            <a:ext cx="6941839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70" kern="100" dirty="0">
                <a:solidFill>
                  <a:srgbClr val="56675E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09 · DELIVERY PLAN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559" y="986709"/>
            <a:ext cx="6553155" cy="24159"/>
          </a:xfrm>
          <a:prstGeom prst="roundRect">
            <a:avLst>
              <a:gd name="adj" fmla="val 50007"/>
            </a:avLst>
          </a:prstGeom>
          <a:solidFill>
            <a:srgbClr val="173F33"/>
          </a:solidFill>
          <a:ln/>
        </p:spPr>
      </p:sp>
      <p:sp>
        <p:nvSpPr>
          <p:cNvPr id="4" name="Text 2"/>
          <p:cNvSpPr/>
          <p:nvPr/>
        </p:nvSpPr>
        <p:spPr>
          <a:xfrm>
            <a:off x="609559" y="1399416"/>
            <a:ext cx="6553219" cy="368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500" spc="-30" kern="100" dirty="0">
                <a:solidFill>
                  <a:srgbClr val="173F33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Recommended implementation sequence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9559" y="1936862"/>
            <a:ext cx="6553219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the trusted data path first, then add retrieval and agent capabilities in layers. Each phase leaves a usable platform behind while preserving replaceable model and search components.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59" y="2584485"/>
            <a:ext cx="3276578" cy="1696090"/>
          </a:xfrm>
          <a:custGeom>
            <a:avLst/>
            <a:gdLst/>
            <a:ahLst/>
            <a:cxnLst/>
            <a:rect l="l" t="t" r="r" b="b"/>
            <a:pathLst>
              <a:path w="3276578" h="1696090">
                <a:moveTo>
                  <a:pt x="9525" y="0"/>
                </a:moveTo>
                <a:lnTo>
                  <a:pt x="3276578" y="0"/>
                </a:lnTo>
                <a:lnTo>
                  <a:pt x="3276578" y="1696090"/>
                </a:lnTo>
                <a:lnTo>
                  <a:pt x="0" y="1696090"/>
                </a:lnTo>
                <a:lnTo>
                  <a:pt x="0" y="9524"/>
                </a:lnTo>
                <a:arcTo hR="9524" wR="9525" stAng="10800000" swAng="5400000"/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7" name="Shape 5"/>
          <p:cNvSpPr/>
          <p:nvPr/>
        </p:nvSpPr>
        <p:spPr>
          <a:xfrm>
            <a:off x="838152" y="2813051"/>
            <a:ext cx="277803" cy="277770"/>
          </a:xfrm>
          <a:prstGeom prst="ellipse">
            <a:avLst/>
          </a:prstGeom>
          <a:solidFill>
            <a:srgbClr val="D69B2D"/>
          </a:solidFill>
          <a:ln w="8096">
            <a:solidFill>
              <a:srgbClr val="CC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584" y="2872564"/>
            <a:ext cx="551494" cy="15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8152" y="3166967"/>
            <a:ext cx="281939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Foundation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38152" y="3575779"/>
            <a:ext cx="2819393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candidate profile CRUD, resume upload, and MySQL persistence.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86137" y="2584485"/>
            <a:ext cx="3276641" cy="1696090"/>
          </a:xfrm>
          <a:custGeom>
            <a:avLst/>
            <a:gdLst/>
            <a:ahLst/>
            <a:cxnLst/>
            <a:rect l="l" t="t" r="r" b="b"/>
            <a:pathLst>
              <a:path w="3276641" h="1696090">
                <a:moveTo>
                  <a:pt x="0" y="0"/>
                </a:moveTo>
                <a:lnTo>
                  <a:pt x="3267116" y="0"/>
                </a:lnTo>
                <a:arcTo hR="9524" wR="9525" stAng="16200000" swAng="5400000"/>
                <a:lnTo>
                  <a:pt x="3276641" y="1696090"/>
                </a:lnTo>
                <a:lnTo>
                  <a:pt x="0" y="1696090"/>
                </a:lnTo>
                <a:lnTo>
                  <a:pt x="0" y="0"/>
                </a:lnTo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729" y="2813051"/>
            <a:ext cx="277803" cy="277770"/>
          </a:xfrm>
          <a:prstGeom prst="ellipse">
            <a:avLst/>
          </a:prstGeom>
          <a:solidFill>
            <a:srgbClr val="D69B2D"/>
          </a:solidFill>
          <a:ln w="8096">
            <a:solidFill>
              <a:srgbClr val="CC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2162" y="2872564"/>
            <a:ext cx="551494" cy="15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729" y="3166967"/>
            <a:ext cx="281945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Trusted profile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114729" y="3575779"/>
            <a:ext cx="2819456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Parsing, normalization, candidate review, and profile versioning.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559" y="4280575"/>
            <a:ext cx="3276578" cy="1696090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152" y="4509141"/>
            <a:ext cx="277803" cy="277770"/>
          </a:xfrm>
          <a:prstGeom prst="ellipse">
            <a:avLst/>
          </a:prstGeom>
          <a:solidFill>
            <a:srgbClr val="D69B2D"/>
          </a:solidFill>
          <a:ln w="8096">
            <a:solidFill>
              <a:srgbClr val="CC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5584" y="4568654"/>
            <a:ext cx="551494" cy="15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8152" y="4863057"/>
            <a:ext cx="281939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Evidence-backed matching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8152" y="5271869"/>
            <a:ext cx="2819393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Job ingestion, FAISS indexing, and explainable matching.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86137" y="4280575"/>
            <a:ext cx="3276641" cy="1696090"/>
          </a:xfrm>
          <a:prstGeom prst="rect">
            <a:avLst/>
          </a:prstGeom>
          <a:solidFill>
            <a:srgbClr val="E8F0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729" y="4509141"/>
            <a:ext cx="277803" cy="277770"/>
          </a:xfrm>
          <a:prstGeom prst="ellipse">
            <a:avLst/>
          </a:prstGeom>
          <a:solidFill>
            <a:srgbClr val="D69B2D"/>
          </a:solidFill>
          <a:ln w="8096">
            <a:solidFill>
              <a:srgbClr val="CC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2162" y="4568654"/>
            <a:ext cx="551494" cy="15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729" y="4863057"/>
            <a:ext cx="2819456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Career assistance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114729" y="5271869"/>
            <a:ext cx="2819456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 gaps, resume and cover letter generation, and conversational assistance.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559" y="5976665"/>
            <a:ext cx="6553219" cy="1457975"/>
          </a:xfrm>
          <a:custGeom>
            <a:avLst/>
            <a:gdLst/>
            <a:ahLst/>
            <a:cxnLst/>
            <a:rect l="l" t="t" r="r" b="b"/>
            <a:pathLst>
              <a:path w="6553219" h="1457975">
                <a:moveTo>
                  <a:pt x="0" y="0"/>
                </a:moveTo>
                <a:lnTo>
                  <a:pt x="6553219" y="0"/>
                </a:lnTo>
                <a:lnTo>
                  <a:pt x="6553219" y="1448451"/>
                </a:lnTo>
                <a:arcTo hR="9524" wR="9525" stAng="0" swAng="5400000"/>
                <a:lnTo>
                  <a:pt x="9525" y="1457975"/>
                </a:lnTo>
                <a:arcTo hR="9524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0E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152" y="6205231"/>
            <a:ext cx="277803" cy="277770"/>
          </a:xfrm>
          <a:prstGeom prst="ellipse">
            <a:avLst/>
          </a:prstGeom>
          <a:solidFill>
            <a:srgbClr val="D69B2D"/>
          </a:solidFill>
          <a:ln w="8096">
            <a:solidFill>
              <a:srgbClr val="CC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584" y="6264744"/>
            <a:ext cx="551494" cy="15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8152" y="6559147"/>
            <a:ext cx="6096033" cy="27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E30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Closed-loop workflow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38152" y="6967959"/>
            <a:ext cx="6324626" cy="23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Interview preparation, application tracking, reminders, and feedback loops.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9559" y="7606033"/>
            <a:ext cx="6553219" cy="872900"/>
          </a:xfrm>
          <a:prstGeom prst="roundRect">
            <a:avLst>
              <a:gd name="adj" fmla="val 1309"/>
            </a:avLst>
          </a:prstGeom>
          <a:solidFill>
            <a:srgbClr val="B6FCB8"/>
          </a:solidFill>
          <a:ln/>
        </p:spPr>
      </p:sp>
      <p:sp>
        <p:nvSpPr>
          <p:cNvPr id="32" name="Text 30"/>
          <p:cNvSpPr/>
          <p:nvPr/>
        </p:nvSpPr>
        <p:spPr>
          <a:xfrm>
            <a:off x="768258" y="7804367"/>
            <a:ext cx="6235820" cy="47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sequence keeps MySQL as the source of truth, FAISS as the semantic retrieval layer, and model deployment as a replaceable implementation choice.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884113" y="2584485"/>
            <a:ext cx="4048" cy="1696090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59" y="4278551"/>
            <a:ext cx="3276578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4113" y="4280575"/>
            <a:ext cx="4048" cy="1696090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6" name="Shape 34"/>
          <p:cNvSpPr/>
          <p:nvPr/>
        </p:nvSpPr>
        <p:spPr>
          <a:xfrm>
            <a:off x="3886137" y="4278551"/>
            <a:ext cx="3276641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59" y="5974642"/>
            <a:ext cx="6553219" cy="4048"/>
          </a:xfrm>
          <a:prstGeom prst="rect">
            <a:avLst/>
          </a:prstGeom>
          <a:solidFill>
            <a:srgbClr val="A9BBB1"/>
          </a:solidFill>
          <a:ln/>
        </p:spPr>
      </p:sp>
      <p:sp>
        <p:nvSpPr>
          <p:cNvPr id="38" name="Text 36"/>
          <p:cNvSpPr/>
          <p:nvPr/>
        </p:nvSpPr>
        <p:spPr>
          <a:xfrm>
            <a:off x="609559" y="9669700"/>
            <a:ext cx="2527105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Career Companion Agent: System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52340" y="9669700"/>
            <a:ext cx="499058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0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2026-10-19T11:37:53Z</dcterms:created>
  <dcterms:modified xsi:type="dcterms:W3CDTF">2026-10-19T11:37:53Z</dcterms:modified>
</cp:coreProperties>
</file>